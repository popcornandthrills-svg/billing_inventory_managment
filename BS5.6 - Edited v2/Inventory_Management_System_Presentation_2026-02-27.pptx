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Inventory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F3057"/>
                </a:solidFill>
              </a:defRPr>
            </a:pPr>
            <a:r>
              <a:t>Business Operations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945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00798C"/>
                </a:solidFill>
              </a:defRPr>
            </a:pPr>
            <a:r>
              <a:t>For Shop Owners and System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1800"/>
            <a:ext cx="10972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C2024"/>
                </a:solidFill>
              </a:defRPr>
            </a:pPr>
            <a:r>
              <a:t>Generated: 27-02-2026</a:t>
            </a:r>
          </a:p>
          <a:p>
            <a:pPr>
              <a:defRPr sz="1700" b="0">
                <a:solidFill>
                  <a:srgbClr val="1C2024"/>
                </a:solidFill>
              </a:defRPr>
            </a:pPr>
            <a:r>
              <a:t>Data Footprint: 46 items | 53 sales invoices | 53 purchase entries</a:t>
            </a:r>
          </a:p>
          <a:p>
            <a:pPr>
              <a:defRPr sz="1700" b="0">
                <a:solidFill>
                  <a:srgbClr val="1C2024"/>
                </a:solidFill>
              </a:defRPr>
            </a:pPr>
            <a:r>
              <a:t>Master Data: 2 customers | 12 suppliers | 132 audit events</a:t>
            </a:r>
          </a:p>
          <a:p>
            <a:pPr>
              <a:defRPr sz="1700" b="0">
                <a:solidFill>
                  <a:srgbClr val="1C2024"/>
                </a:solidFill>
              </a:defRPr>
            </a:pPr>
            <a:r>
              <a:t>Presentation Quality: Formal design, visual analytics, and practical operational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Total Stock Quantity: 1,339.00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Estimated Stock Value: Rs 2,450.00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Total Sales Value: Rs 649,914.70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Total Purchase Value: Rs 1,308,488.80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Customer Outstanding Due: Rs 456,033.30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Supplier Outstanding Due: Rs 1,105,061.20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34440"/>
            <a:ext cx="4937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F3057"/>
                </a:solidFill>
              </a:defRPr>
            </a:pPr>
            <a:r>
              <a:t>Why this system matters</a:t>
            </a:r>
          </a:p>
          <a:p>
            <a:pPr>
              <a:defRPr sz="1700">
                <a:solidFill>
                  <a:srgbClr val="1C2024"/>
                </a:solidFill>
              </a:defRPr>
            </a:pPr>
            <a:r>
              <a:t>- Unified billing, purchase, stock, and due control</a:t>
            </a:r>
          </a:p>
          <a:p>
            <a:pPr>
              <a:defRPr sz="1700">
                <a:solidFill>
                  <a:srgbClr val="1C2024"/>
                </a:solidFill>
              </a:defRPr>
            </a:pPr>
            <a:r>
              <a:t>- Faster day-to-day shop operations</a:t>
            </a:r>
          </a:p>
          <a:p>
            <a:pPr>
              <a:defRPr sz="1700">
                <a:solidFill>
                  <a:srgbClr val="1C2024"/>
                </a:solidFill>
              </a:defRPr>
            </a:pPr>
            <a:r>
              <a:t>- Better financial visibility and accountability</a:t>
            </a:r>
          </a:p>
          <a:p>
            <a:pPr>
              <a:defRPr sz="1700">
                <a:solidFill>
                  <a:srgbClr val="1C2024"/>
                </a:solidFill>
              </a:defRPr>
            </a:pPr>
            <a:r>
              <a:t>- Role-based access for secure collaboration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System Architecture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194560" cy="1005840"/>
          </a:xfrm>
          <a:prstGeom prst="roundRect">
            <a:avLst/>
          </a:prstGeom>
          <a:solidFill>
            <a:srgbClr val="DDEBF7"/>
          </a:solidFill>
          <a:ln>
            <a:solidFill>
              <a:srgbClr val="0F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Sales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463040"/>
            <a:ext cx="2377440" cy="1005840"/>
          </a:xfrm>
          <a:prstGeom prst="roundRect">
            <a:avLst/>
          </a:prstGeom>
          <a:solidFill>
            <a:srgbClr val="E2EFDA"/>
          </a:solidFill>
          <a:ln>
            <a:solidFill>
              <a:srgbClr val="0F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Purchase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468880" cy="1005840"/>
          </a:xfrm>
          <a:prstGeom prst="roundRect">
            <a:avLst/>
          </a:prstGeom>
          <a:solidFill>
            <a:srgbClr val="FCE4D6"/>
          </a:solidFill>
          <a:ln>
            <a:solidFill>
              <a:srgbClr val="0F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Inventory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463040"/>
            <a:ext cx="2377440" cy="1005840"/>
          </a:xfrm>
          <a:prstGeom prst="roundRect">
            <a:avLst/>
          </a:prstGeom>
          <a:solidFill>
            <a:srgbClr val="F2F2F2"/>
          </a:solidFill>
          <a:ln>
            <a:solidFill>
              <a:srgbClr val="0F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Reporting &amp;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114800"/>
            <a:ext cx="256032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0F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JSON Data Store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965960"/>
            <a:ext cx="320040" cy="0"/>
          </a:xfrm>
          <a:prstGeom prst="line">
            <a:avLst/>
          </a:prstGeom>
          <a:ln w="2032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69280" y="1965960"/>
            <a:ext cx="411480" cy="0"/>
          </a:xfrm>
          <a:prstGeom prst="line">
            <a:avLst/>
          </a:prstGeom>
          <a:ln w="2032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1965960"/>
            <a:ext cx="411480" cy="0"/>
          </a:xfrm>
          <a:prstGeom prst="line">
            <a:avLst/>
          </a:prstGeom>
          <a:ln w="2032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492240" y="2514600"/>
            <a:ext cx="777240" cy="1554480"/>
          </a:xfrm>
          <a:prstGeom prst="line">
            <a:avLst/>
          </a:prstGeom>
          <a:ln w="2032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486400" y="2514600"/>
            <a:ext cx="91440" cy="1554480"/>
          </a:xfrm>
          <a:prstGeom prst="line">
            <a:avLst/>
          </a:prstGeom>
          <a:ln w="2032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23760" y="2514600"/>
            <a:ext cx="2651760" cy="1554480"/>
          </a:xfrm>
          <a:prstGeom prst="line">
            <a:avLst/>
          </a:prstGeom>
          <a:ln w="2032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834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</a:defRPr>
            </a:pPr>
            <a:r>
              <a:t>Core design: UI modules -&gt; validation -&gt; transaction write -&gt; audit trail -&gt; report/export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Role-Based Access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Configured users: Admin / User / Shop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4754880" cy="502920"/>
          </a:xfrm>
          <a:prstGeom prst="rect">
            <a:avLst/>
          </a:prstGeom>
          <a:solidFill>
            <a:srgbClr val="0F3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Functionality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1828800"/>
            <a:ext cx="1828800" cy="502920"/>
          </a:xfrm>
          <a:prstGeom prst="rect">
            <a:avLst/>
          </a:prstGeom>
          <a:solidFill>
            <a:srgbClr val="0F3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828800"/>
            <a:ext cx="1828800" cy="502920"/>
          </a:xfrm>
          <a:prstGeom prst="rect">
            <a:avLst/>
          </a:prstGeom>
          <a:solidFill>
            <a:srgbClr val="0F3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828800"/>
            <a:ext cx="1828800" cy="502920"/>
          </a:xfrm>
          <a:prstGeom prst="rect">
            <a:avLst/>
          </a:prstGeom>
          <a:solidFill>
            <a:srgbClr val="0F3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Shop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4754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C2024"/>
                </a:solidFill>
              </a:defRPr>
            </a:pPr>
            <a:r>
              <a:t>New Invoice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33172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33172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33172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34640"/>
            <a:ext cx="475488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C2024"/>
                </a:solidFill>
              </a:defRPr>
            </a:pPr>
            <a:r>
              <a:t>New Purchase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83464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83464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83464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37560"/>
            <a:ext cx="4754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C2024"/>
                </a:solidFill>
              </a:defRPr>
            </a:pPr>
            <a:r>
              <a:t>Item Summary: Purchase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33756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Editable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33756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33756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Hidden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840480"/>
            <a:ext cx="475488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C2024"/>
                </a:solidFill>
              </a:defRPr>
            </a:pPr>
            <a:r>
              <a:t>Item Summary: Selling Price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84048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Editable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84048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84048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Editable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47548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C2024"/>
                </a:solidFill>
              </a:defRPr>
            </a:pPr>
            <a:r>
              <a:t>Item Summary: Available Qty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434340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Editable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34340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434340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Editable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846320"/>
            <a:ext cx="475488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C2024"/>
                </a:solidFill>
              </a:defRPr>
            </a:pPr>
            <a:r>
              <a:t>Audit Log 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84632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84632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4846320"/>
            <a:ext cx="1828800" cy="502920"/>
          </a:xfrm>
          <a:prstGeom prst="rect">
            <a:avLst/>
          </a:prstGeom>
          <a:solidFill>
            <a:srgbClr val="ECF2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C2024"/>
                </a:solidFill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Sales Workflow (New Invoice)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922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1. Capture customer details with smart suggestion and auto-fill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2. Select or type item, set type/qty/rate/GST, and add to cart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3. Stock validation prevents over-sale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4. Calculate taxable, CGST/SGST and payable balance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5. Generate invoice -&gt; write sales record -&gt; reduce stock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6. Auto-create invoice PDF and audit log entry</a:t>
            </a:r>
          </a:p>
        </p:txBody>
      </p:sp>
      <p:pic>
        <p:nvPicPr>
          <p:cNvPr id="4" name="Picture 3" descr="chart_sales_paymen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480560" cy="465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Purchase Workflow (New Purchase)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922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1. Supplier select/auto-fill; new supplier can be auto-created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2. Add purchased line items with HSN, unit, GST and totals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3. Track payment mode including Other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4. Save purchase record and compute supplier due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5. Add stock into inventory and capture audit event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</a:defRPr>
            </a:pPr>
            <a:r>
              <a:t>6. Cash payments post into cash ledger automatically</a:t>
            </a:r>
          </a:p>
        </p:txBody>
      </p:sp>
      <p:pic>
        <p:nvPicPr>
          <p:cNvPr id="4" name="Picture 3" descr="chart_d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572000" cy="3413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Inventory Intelligence</a:t>
            </a:r>
          </a:p>
        </p:txBody>
      </p:sp>
      <p:pic>
        <p:nvPicPr>
          <p:cNvPr id="3" name="Picture 2" descr="chart_top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498079" cy="40571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234440"/>
            <a:ext cx="374903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</a:defRPr>
            </a:pPr>
            <a:r>
              <a:t>Item summary is fixed in alphabetical order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</a:defRPr>
            </a:pPr>
            <a:r>
              <a:t>Editable fields are role controlled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</a:defRPr>
            </a:pPr>
            <a:r>
              <a:t>Stock valuation and quantity tracking are built-in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</a:defRPr>
            </a:pPr>
            <a:r>
              <a:t>Item transaction drilldown is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Financial Trend Visibility</a:t>
            </a:r>
          </a:p>
        </p:txBody>
      </p:sp>
      <p:pic>
        <p:nvPicPr>
          <p:cNvPr id="3" name="Picture 2" descr="chart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937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Reliability And Edge-Case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Validation guards: mandatory fields, numeric checks, and amount ranges</a:t>
            </a:r>
          </a:p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No duplicate save on rapid clicks (action locks and save locks)</a:t>
            </a:r>
          </a:p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Large report views load in chunks to avoid UI freezing</a:t>
            </a:r>
          </a:p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Date parsing supports multiple formats with safe fallback</a:t>
            </a:r>
          </a:p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Data consistency routine sanitizes records and rebuilds inventory baseline</a:t>
            </a:r>
          </a:p>
          <a:p>
            <a:pPr>
              <a:spcAft>
                <a:spcPts val="800"/>
              </a:spcAft>
              <a:defRPr sz="2000">
                <a:solidFill>
                  <a:srgbClr val="1C2024"/>
                </a:solidFill>
              </a:defRPr>
            </a:pPr>
            <a:r>
              <a:t>Audit viewer sorted latest-first for traceability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Performance Improvements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949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024"/>
                </a:solidFill>
              </a:defRPr>
            </a:pPr>
            <a:r>
              <a:t>Cached New Invoice/New Purchase tabs preserve data and cut reload delays</a:t>
            </a:r>
          </a:p>
          <a:p>
            <a:pPr>
              <a:spcAft>
                <a:spcPts val="800"/>
              </a:spcAft>
              <a:defRPr sz="1900">
                <a:solidFill>
                  <a:srgbClr val="1C2024"/>
                </a:solidFill>
              </a:defRPr>
            </a:pPr>
            <a:r>
              <a:t>Lazy imports reduce screen-open lag</a:t>
            </a:r>
          </a:p>
          <a:p>
            <a:pPr>
              <a:spcAft>
                <a:spcPts val="800"/>
              </a:spcAft>
              <a:defRPr sz="1900">
                <a:solidFill>
                  <a:srgbClr val="1C2024"/>
                </a:solidFill>
              </a:defRPr>
            </a:pPr>
            <a:r>
              <a:t>In-memory stock cache reduces repeated disk reads</a:t>
            </a:r>
          </a:p>
          <a:p>
            <a:pPr>
              <a:spcAft>
                <a:spcPts val="800"/>
              </a:spcAft>
              <a:defRPr sz="1900">
                <a:solidFill>
                  <a:srgbClr val="1C2024"/>
                </a:solidFill>
              </a:defRPr>
            </a:pPr>
            <a:r>
              <a:t>Navigation debounce prevents non-responding behavior from rapid clicks</a:t>
            </a:r>
          </a:p>
          <a:p>
            <a:pPr>
              <a:spcAft>
                <a:spcPts val="800"/>
              </a:spcAft>
              <a:defRPr sz="1900">
                <a:solidFill>
                  <a:srgbClr val="1C2024"/>
                </a:solidFill>
              </a:defRPr>
            </a:pPr>
            <a:r>
              <a:t>Chunked table rendering used in heavy report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63040"/>
            <a:ext cx="3749039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F3057"/>
                </a:solidFill>
              </a:defRPr>
            </a:pPr>
            <a:r>
              <a:t>Operational Impact</a:t>
            </a:r>
          </a:p>
          <a:p>
            <a:pPr>
              <a:defRPr sz="1800">
                <a:solidFill>
                  <a:srgbClr val="1C2024"/>
                </a:solidFill>
              </a:defRPr>
            </a:pPr>
            <a:r>
              <a:t>- Faster form opening</a:t>
            </a:r>
          </a:p>
          <a:p>
            <a:pPr>
              <a:defRPr sz="1800">
                <a:solidFill>
                  <a:srgbClr val="1C2024"/>
                </a:solidFill>
              </a:defRPr>
            </a:pPr>
            <a:r>
              <a:t>- Fewer temporary hangs</a:t>
            </a:r>
          </a:p>
          <a:p>
            <a:pPr>
              <a:defRPr sz="1800">
                <a:solidFill>
                  <a:srgbClr val="1C2024"/>
                </a:solidFill>
              </a:defRPr>
            </a:pPr>
            <a:r>
              <a:t>- Better user confidence</a:t>
            </a:r>
          </a:p>
          <a:p>
            <a:pPr>
              <a:defRPr sz="1800">
                <a:solidFill>
                  <a:srgbClr val="1C2024"/>
                </a:solidFill>
              </a:defRPr>
            </a:pPr>
            <a:r>
              <a:t>- Smoother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The system now provides integrated billing, purchase, inventory, due, and audit visibility.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For shop owners: better control over stock, dues, and operational accountability.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For users: faster entry flow, clearer reports, and safer transaction handling.</a:t>
            </a:r>
          </a:p>
          <a:p>
            <a:pPr>
              <a:spcAft>
                <a:spcPts val="800"/>
              </a:spcAft>
              <a:defRPr sz="2100">
                <a:solidFill>
                  <a:srgbClr val="1C2024"/>
                </a:solidFill>
              </a:defRPr>
            </a:pPr>
            <a:r>
              <a:t>Next step recommendation: periodic backup + monthly KPI review using report exports.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069"/>
                </a:solidFill>
              </a:defRPr>
            </a:pPr>
            <a:r>
              <a:t>Prepared from live system implementation details (BS5.6 - Edited v2)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